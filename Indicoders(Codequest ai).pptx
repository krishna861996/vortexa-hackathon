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Arial Unicode MS" panose="020B0604020202020204" pitchFamily="34" charset="-128"/>
      <p:regular r:id="rId10"/>
    </p:embeddedFon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Heading Now 31-38" panose="020B0604020202020204" charset="0"/>
      <p:regular r:id="rId15"/>
    </p:embeddedFont>
    <p:embeddedFont>
      <p:font typeface="Heading Now 31-38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18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3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2.png"/><Relationship Id="rId5" Type="http://schemas.openxmlformats.org/officeDocument/2006/relationships/image" Target="../media/image6.png"/><Relationship Id="rId10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2.png"/><Relationship Id="rId5" Type="http://schemas.openxmlformats.org/officeDocument/2006/relationships/image" Target="../media/image6.png"/><Relationship Id="rId10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2.png"/><Relationship Id="rId5" Type="http://schemas.openxmlformats.org/officeDocument/2006/relationships/image" Target="../media/image6.png"/><Relationship Id="rId10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8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416893" y="4930326"/>
            <a:ext cx="1790743" cy="1009954"/>
          </a:xfrm>
          <a:custGeom>
            <a:avLst/>
            <a:gdLst/>
            <a:ahLst/>
            <a:cxnLst/>
            <a:rect l="l" t="t" r="r" b="b"/>
            <a:pathLst>
              <a:path w="1790743" h="1009954">
                <a:moveTo>
                  <a:pt x="0" y="0"/>
                </a:moveTo>
                <a:lnTo>
                  <a:pt x="1790744" y="0"/>
                </a:lnTo>
                <a:lnTo>
                  <a:pt x="1790744" y="1009954"/>
                </a:lnTo>
                <a:lnTo>
                  <a:pt x="0" y="10099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9000"/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36676" y="6251072"/>
            <a:ext cx="7111924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71"/>
              </a:lnSpc>
            </a:pPr>
            <a:r>
              <a:rPr lang="en-US" sz="4771" b="1" spc="46" dirty="0">
                <a:solidFill>
                  <a:srgbClr val="4E4A76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TEAM NAME : </a:t>
            </a:r>
            <a:r>
              <a:rPr lang="en-US" sz="4771" b="1" spc="46" dirty="0" err="1">
                <a:solidFill>
                  <a:srgbClr val="4E4A76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Indicoders</a:t>
            </a:r>
            <a:endParaRPr lang="en-US" sz="4771" b="1" spc="46" dirty="0">
              <a:solidFill>
                <a:srgbClr val="4E4A76"/>
              </a:solidFill>
              <a:latin typeface="Heading Now 31-38 Bold"/>
              <a:ea typeface="Heading Now 31-38 Bold"/>
              <a:cs typeface="Heading Now 31-38 Bold"/>
              <a:sym typeface="Heading Now 31-38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36676" y="4624086"/>
            <a:ext cx="15158424" cy="13080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5148" b="1" spc="50" dirty="0">
                <a:solidFill>
                  <a:srgbClr val="1A2651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PROBLEM STATEMENT TITLE : </a:t>
            </a:r>
          </a:p>
          <a:p>
            <a:pPr>
              <a:lnSpc>
                <a:spcPts val="5148"/>
              </a:lnSpc>
            </a:pPr>
            <a:r>
              <a:rPr lang="it-IT" sz="5148" spc="50" dirty="0">
                <a:solidFill>
                  <a:schemeClr val="accent4">
                    <a:lumMod val="75000"/>
                  </a:schemeClr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CodeQuest AI: AI Coding Mentor &amp; Debugging Missions</a:t>
            </a:r>
            <a:endParaRPr lang="en-US" sz="5148" spc="50" dirty="0">
              <a:solidFill>
                <a:schemeClr val="accent4">
                  <a:lumMod val="75000"/>
                </a:schemeClr>
              </a:solidFill>
              <a:latin typeface="Heading Now 31-38 Bold"/>
              <a:ea typeface="Heading Now 31-38 Bold"/>
              <a:cs typeface="Heading Now 31-38 Bold"/>
              <a:sym typeface="Heading Now 31-38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36677" y="3700840"/>
            <a:ext cx="6250076" cy="65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5148" b="1" spc="50" dirty="0">
                <a:solidFill>
                  <a:srgbClr val="4E4A76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DOMAIN &amp; NO :</a:t>
            </a:r>
            <a:r>
              <a:rPr lang="en-US" sz="5148" b="1" spc="50" dirty="0">
                <a:solidFill>
                  <a:srgbClr val="161F3E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  </a:t>
            </a:r>
            <a:r>
              <a:rPr lang="en-US" sz="5148" spc="50" dirty="0">
                <a:solidFill>
                  <a:srgbClr val="161F3E"/>
                </a:solidFill>
                <a:latin typeface="Heading Now 31-38"/>
                <a:ea typeface="Heading Now 31-38"/>
                <a:cs typeface="Heading Now 31-38"/>
                <a:sym typeface="Heading Now 31-38"/>
              </a:rPr>
              <a:t>5, E-02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6676" y="7322200"/>
            <a:ext cx="467352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2"/>
              </a:lnSpc>
            </a:pPr>
            <a:r>
              <a:rPr lang="en-US" sz="4472" b="1" spc="43" dirty="0">
                <a:solidFill>
                  <a:srgbClr val="4E4A76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TEAM ID : VTX26-90393</a:t>
            </a:r>
          </a:p>
        </p:txBody>
      </p:sp>
      <p:sp>
        <p:nvSpPr>
          <p:cNvPr id="7" name="Freeform 7"/>
          <p:cNvSpPr/>
          <p:nvPr/>
        </p:nvSpPr>
        <p:spPr>
          <a:xfrm>
            <a:off x="16127273" y="239946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7" y="0"/>
                </a:lnTo>
                <a:lnTo>
                  <a:pt x="2160727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94418" y="366545"/>
            <a:ext cx="4010276" cy="209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06"/>
              </a:lnSpc>
            </a:pPr>
            <a:r>
              <a:rPr lang="en-US" sz="13306" b="1" spc="129">
                <a:solidFill>
                  <a:srgbClr val="3C3B56">
                    <a:alpha val="84706"/>
                  </a:srgbClr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VORTEXA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686268" y="366545"/>
            <a:ext cx="1413653" cy="209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06"/>
              </a:lnSpc>
            </a:pPr>
            <a:r>
              <a:rPr lang="en-US" sz="13306" b="1" spc="129">
                <a:solidFill>
                  <a:srgbClr val="7F5E87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3.0</a:t>
            </a:r>
          </a:p>
        </p:txBody>
      </p:sp>
      <p:sp>
        <p:nvSpPr>
          <p:cNvPr id="10" name="Freeform 10"/>
          <p:cNvSpPr/>
          <p:nvPr/>
        </p:nvSpPr>
        <p:spPr>
          <a:xfrm>
            <a:off x="427876" y="2201546"/>
            <a:ext cx="5496285" cy="239623"/>
          </a:xfrm>
          <a:custGeom>
            <a:avLst/>
            <a:gdLst/>
            <a:ahLst/>
            <a:cxnLst/>
            <a:rect l="l" t="t" r="r" b="b"/>
            <a:pathLst>
              <a:path w="5496285" h="239623">
                <a:moveTo>
                  <a:pt x="0" y="0"/>
                </a:moveTo>
                <a:lnTo>
                  <a:pt x="5496285" y="0"/>
                </a:lnTo>
                <a:lnTo>
                  <a:pt x="5496285" y="239623"/>
                </a:lnTo>
                <a:lnTo>
                  <a:pt x="0" y="239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181496" y="1747988"/>
            <a:ext cx="2453149" cy="573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8"/>
              </a:lnSpc>
            </a:pPr>
            <a:r>
              <a:rPr lang="en-US" sz="3608" b="1" spc="89">
                <a:solidFill>
                  <a:srgbClr val="3F3F3F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12 HRS HACKATHON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6677" y="2531879"/>
            <a:ext cx="2119254" cy="431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1"/>
              </a:lnSpc>
            </a:pPr>
            <a:r>
              <a:rPr lang="en-US" sz="2721" b="1" spc="67">
                <a:solidFill>
                  <a:srgbClr val="161F3E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POWERED BY </a:t>
            </a:r>
            <a:r>
              <a:rPr lang="en-US" sz="2721" b="1" spc="67">
                <a:solidFill>
                  <a:srgbClr val="4E4A76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A.I.R.S</a:t>
            </a:r>
          </a:p>
        </p:txBody>
      </p:sp>
      <p:sp>
        <p:nvSpPr>
          <p:cNvPr id="13" name="Freeform 13"/>
          <p:cNvSpPr/>
          <p:nvPr/>
        </p:nvSpPr>
        <p:spPr>
          <a:xfrm>
            <a:off x="46256" y="-393054"/>
            <a:ext cx="1750048" cy="10607152"/>
          </a:xfrm>
          <a:custGeom>
            <a:avLst/>
            <a:gdLst/>
            <a:ahLst/>
            <a:cxnLst/>
            <a:rect l="l" t="t" r="r" b="b"/>
            <a:pathLst>
              <a:path w="1750048" h="10607152">
                <a:moveTo>
                  <a:pt x="0" y="0"/>
                </a:moveTo>
                <a:lnTo>
                  <a:pt x="1750048" y="0"/>
                </a:lnTo>
                <a:lnTo>
                  <a:pt x="1750048" y="10607153"/>
                </a:lnTo>
                <a:lnTo>
                  <a:pt x="0" y="106071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85" r="-3785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14" name="Freeform 14"/>
          <p:cNvSpPr/>
          <p:nvPr/>
        </p:nvSpPr>
        <p:spPr>
          <a:xfrm>
            <a:off x="14361330" y="6635716"/>
            <a:ext cx="1750048" cy="1727254"/>
          </a:xfrm>
          <a:custGeom>
            <a:avLst/>
            <a:gdLst/>
            <a:ahLst/>
            <a:cxnLst/>
            <a:rect l="l" t="t" r="r" b="b"/>
            <a:pathLst>
              <a:path w="1750048" h="1727254">
                <a:moveTo>
                  <a:pt x="0" y="0"/>
                </a:moveTo>
                <a:lnTo>
                  <a:pt x="1750048" y="0"/>
                </a:lnTo>
                <a:lnTo>
                  <a:pt x="175004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2739803" y="7046873"/>
            <a:ext cx="5548197" cy="3256525"/>
          </a:xfrm>
          <a:custGeom>
            <a:avLst/>
            <a:gdLst/>
            <a:ahLst/>
            <a:cxnLst/>
            <a:rect l="l" t="t" r="r" b="b"/>
            <a:pathLst>
              <a:path w="5548197" h="3256525">
                <a:moveTo>
                  <a:pt x="0" y="0"/>
                </a:moveTo>
                <a:lnTo>
                  <a:pt x="5548197" y="0"/>
                </a:lnTo>
                <a:lnTo>
                  <a:pt x="5548197" y="3256525"/>
                </a:lnTo>
                <a:lnTo>
                  <a:pt x="0" y="32565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9154" b="-3059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975464" y="5455062"/>
            <a:ext cx="1312536" cy="4088563"/>
          </a:xfrm>
          <a:custGeom>
            <a:avLst/>
            <a:gdLst/>
            <a:ahLst/>
            <a:cxnLst/>
            <a:rect l="l" t="t" r="r" b="b"/>
            <a:pathLst>
              <a:path w="1312536" h="4088563">
                <a:moveTo>
                  <a:pt x="0" y="0"/>
                </a:moveTo>
                <a:lnTo>
                  <a:pt x="1312536" y="0"/>
                </a:lnTo>
                <a:lnTo>
                  <a:pt x="1312536" y="4088563"/>
                </a:lnTo>
                <a:lnTo>
                  <a:pt x="0" y="40885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6706941" y="7046873"/>
            <a:ext cx="1104718" cy="2372241"/>
          </a:xfrm>
          <a:custGeom>
            <a:avLst/>
            <a:gdLst/>
            <a:ahLst/>
            <a:cxnLst/>
            <a:rect l="l" t="t" r="r" b="b"/>
            <a:pathLst>
              <a:path w="1104718" h="2372241">
                <a:moveTo>
                  <a:pt x="0" y="0"/>
                </a:moveTo>
                <a:lnTo>
                  <a:pt x="1104718" y="0"/>
                </a:lnTo>
                <a:lnTo>
                  <a:pt x="1104718" y="2372241"/>
                </a:lnTo>
                <a:lnTo>
                  <a:pt x="0" y="23722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4727951" y="2550929"/>
            <a:ext cx="3560049" cy="1756785"/>
          </a:xfrm>
          <a:custGeom>
            <a:avLst/>
            <a:gdLst/>
            <a:ahLst/>
            <a:cxnLst/>
            <a:rect l="l" t="t" r="r" b="b"/>
            <a:pathLst>
              <a:path w="3560049" h="1756785">
                <a:moveTo>
                  <a:pt x="0" y="0"/>
                </a:moveTo>
                <a:lnTo>
                  <a:pt x="3560049" y="0"/>
                </a:lnTo>
                <a:lnTo>
                  <a:pt x="3560049" y="1756784"/>
                </a:lnTo>
                <a:lnTo>
                  <a:pt x="0" y="175678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57000"/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57435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479517"/>
            <a:chOff x="0" y="0"/>
            <a:chExt cx="24384000" cy="139726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33397" cy="13147537"/>
            </a:xfrm>
            <a:custGeom>
              <a:avLst/>
              <a:gdLst/>
              <a:ahLst/>
              <a:cxnLst/>
              <a:rect l="l" t="t" r="r" b="b"/>
              <a:pathLst>
                <a:path w="2333397" h="13147537">
                  <a:moveTo>
                    <a:pt x="0" y="0"/>
                  </a:moveTo>
                  <a:lnTo>
                    <a:pt x="2333397" y="0"/>
                  </a:lnTo>
                  <a:lnTo>
                    <a:pt x="2333397" y="13147537"/>
                  </a:lnTo>
                  <a:lnTo>
                    <a:pt x="0" y="13147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9148440" y="8847622"/>
              <a:ext cx="2333397" cy="2303005"/>
            </a:xfrm>
            <a:custGeom>
              <a:avLst/>
              <a:gdLst/>
              <a:ahLst/>
              <a:cxnLst/>
              <a:rect l="l" t="t" r="r" b="b"/>
              <a:pathLst>
                <a:path w="2333397" h="2303005">
                  <a:moveTo>
                    <a:pt x="0" y="0"/>
                  </a:moveTo>
                  <a:lnTo>
                    <a:pt x="2333397" y="0"/>
                  </a:lnTo>
                  <a:lnTo>
                    <a:pt x="2333397" y="2303005"/>
                  </a:lnTo>
                  <a:lnTo>
                    <a:pt x="0" y="23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7412976" y="9395831"/>
              <a:ext cx="6971024" cy="4342033"/>
            </a:xfrm>
            <a:custGeom>
              <a:avLst/>
              <a:gdLst/>
              <a:ahLst/>
              <a:cxnLst/>
              <a:rect l="l" t="t" r="r" b="b"/>
              <a:pathLst>
                <a:path w="6971024" h="4342033">
                  <a:moveTo>
                    <a:pt x="0" y="0"/>
                  </a:moveTo>
                  <a:lnTo>
                    <a:pt x="6971024" y="0"/>
                  </a:lnTo>
                  <a:lnTo>
                    <a:pt x="6971024" y="4342033"/>
                  </a:lnTo>
                  <a:lnTo>
                    <a:pt x="0" y="4342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743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9395831"/>
              <a:ext cx="1750048" cy="4576859"/>
            </a:xfrm>
            <a:custGeom>
              <a:avLst/>
              <a:gdLst/>
              <a:ahLst/>
              <a:cxnLst/>
              <a:rect l="l" t="t" r="r" b="b"/>
              <a:pathLst>
                <a:path w="1750048" h="4576859">
                  <a:moveTo>
                    <a:pt x="0" y="0"/>
                  </a:moveTo>
                  <a:lnTo>
                    <a:pt x="1750048" y="0"/>
                  </a:lnTo>
                  <a:lnTo>
                    <a:pt x="1750048" y="4576858"/>
                  </a:lnTo>
                  <a:lnTo>
                    <a:pt x="0" y="4576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22633952" y="7273416"/>
              <a:ext cx="1750048" cy="5451418"/>
            </a:xfrm>
            <a:custGeom>
              <a:avLst/>
              <a:gdLst/>
              <a:ahLst/>
              <a:cxnLst/>
              <a:rect l="l" t="t" r="r" b="b"/>
              <a:pathLst>
                <a:path w="1750048" h="5451418">
                  <a:moveTo>
                    <a:pt x="0" y="0"/>
                  </a:moveTo>
                  <a:lnTo>
                    <a:pt x="1750048" y="0"/>
                  </a:lnTo>
                  <a:lnTo>
                    <a:pt x="1750048" y="5451417"/>
                  </a:lnTo>
                  <a:lnTo>
                    <a:pt x="0" y="545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22275922" y="9395831"/>
              <a:ext cx="1472957" cy="3162988"/>
            </a:xfrm>
            <a:custGeom>
              <a:avLst/>
              <a:gdLst/>
              <a:ahLst/>
              <a:cxnLst/>
              <a:rect l="l" t="t" r="r" b="b"/>
              <a:pathLst>
                <a:path w="1472957" h="3162988">
                  <a:moveTo>
                    <a:pt x="0" y="0"/>
                  </a:moveTo>
                  <a:lnTo>
                    <a:pt x="1472956" y="0"/>
                  </a:lnTo>
                  <a:lnTo>
                    <a:pt x="1472956" y="3162988"/>
                  </a:lnTo>
                  <a:lnTo>
                    <a:pt x="0" y="31629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-1418328" y="-57150"/>
            <a:ext cx="8831116" cy="120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 b="1" spc="150">
                <a:solidFill>
                  <a:srgbClr val="172243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PROBLEM STATEMENT</a:t>
            </a:r>
          </a:p>
        </p:txBody>
      </p:sp>
      <p:sp>
        <p:nvSpPr>
          <p:cNvPr id="11" name="Freeform 11"/>
          <p:cNvSpPr/>
          <p:nvPr/>
        </p:nvSpPr>
        <p:spPr>
          <a:xfrm>
            <a:off x="255295" y="1028700"/>
            <a:ext cx="5020450" cy="535667"/>
          </a:xfrm>
          <a:custGeom>
            <a:avLst/>
            <a:gdLst/>
            <a:ahLst/>
            <a:cxnLst/>
            <a:rect l="l" t="t" r="r" b="b"/>
            <a:pathLst>
              <a:path w="5020450" h="535667">
                <a:moveTo>
                  <a:pt x="0" y="0"/>
                </a:moveTo>
                <a:lnTo>
                  <a:pt x="5020450" y="0"/>
                </a:lnTo>
                <a:lnTo>
                  <a:pt x="5020450" y="535667"/>
                </a:lnTo>
                <a:lnTo>
                  <a:pt x="0" y="5356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250" r="-11250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3923818" y="2160727"/>
            <a:ext cx="4364182" cy="2153601"/>
          </a:xfrm>
          <a:custGeom>
            <a:avLst/>
            <a:gdLst/>
            <a:ahLst/>
            <a:cxnLst/>
            <a:rect l="l" t="t" r="r" b="b"/>
            <a:pathLst>
              <a:path w="4364182" h="2153601">
                <a:moveTo>
                  <a:pt x="0" y="0"/>
                </a:moveTo>
                <a:lnTo>
                  <a:pt x="4364182" y="0"/>
                </a:lnTo>
                <a:lnTo>
                  <a:pt x="436418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68000"/>
            </a:blip>
            <a:stretch>
              <a:fillRect/>
            </a:stretch>
          </a:blipFill>
        </p:spPr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9BDE51-A552-4CBC-B707-573E9619F684}"/>
              </a:ext>
            </a:extLst>
          </p:cNvPr>
          <p:cNvSpPr txBox="1"/>
          <p:nvPr/>
        </p:nvSpPr>
        <p:spPr>
          <a:xfrm>
            <a:off x="289931" y="1991427"/>
            <a:ext cx="9788754" cy="659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Coding is easy to start. Debugging is hard to master.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Confusing Errors: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Beginners struggle to understand compiler errors and failed test cases.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Solution Dependency: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Existing AI tools can encourage copying code instead of understanding it.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Lack of Personalization: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Learners receive limited guidance based on their recurring mistakes.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Learning Gaps: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It is difficult to track weaknesses and measure actual skill improvement.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Core Problem: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Students need guidance that helps them understand and solve coding problems independently.</a:t>
            </a:r>
          </a:p>
          <a:p>
            <a:pPr>
              <a:lnSpc>
                <a:spcPct val="150000"/>
              </a:lnSpc>
            </a:pPr>
            <a:endParaRPr lang="en-IN" sz="20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4FFC361-0801-4CED-9A74-42E2288B540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381" y="3380304"/>
            <a:ext cx="6135083" cy="34522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479517"/>
            <a:chOff x="0" y="0"/>
            <a:chExt cx="24384000" cy="139726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33397" cy="13147537"/>
            </a:xfrm>
            <a:custGeom>
              <a:avLst/>
              <a:gdLst/>
              <a:ahLst/>
              <a:cxnLst/>
              <a:rect l="l" t="t" r="r" b="b"/>
              <a:pathLst>
                <a:path w="2333397" h="13147537">
                  <a:moveTo>
                    <a:pt x="0" y="0"/>
                  </a:moveTo>
                  <a:lnTo>
                    <a:pt x="2333397" y="0"/>
                  </a:lnTo>
                  <a:lnTo>
                    <a:pt x="2333397" y="13147537"/>
                  </a:lnTo>
                  <a:lnTo>
                    <a:pt x="0" y="13147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9148440" y="8847622"/>
              <a:ext cx="2333397" cy="2303005"/>
            </a:xfrm>
            <a:custGeom>
              <a:avLst/>
              <a:gdLst/>
              <a:ahLst/>
              <a:cxnLst/>
              <a:rect l="l" t="t" r="r" b="b"/>
              <a:pathLst>
                <a:path w="2333397" h="2303005">
                  <a:moveTo>
                    <a:pt x="0" y="0"/>
                  </a:moveTo>
                  <a:lnTo>
                    <a:pt x="2333397" y="0"/>
                  </a:lnTo>
                  <a:lnTo>
                    <a:pt x="2333397" y="2303005"/>
                  </a:lnTo>
                  <a:lnTo>
                    <a:pt x="0" y="23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7412976" y="9395831"/>
              <a:ext cx="6971024" cy="4342033"/>
            </a:xfrm>
            <a:custGeom>
              <a:avLst/>
              <a:gdLst/>
              <a:ahLst/>
              <a:cxnLst/>
              <a:rect l="l" t="t" r="r" b="b"/>
              <a:pathLst>
                <a:path w="6971024" h="4342033">
                  <a:moveTo>
                    <a:pt x="0" y="0"/>
                  </a:moveTo>
                  <a:lnTo>
                    <a:pt x="6971024" y="0"/>
                  </a:lnTo>
                  <a:lnTo>
                    <a:pt x="6971024" y="4342033"/>
                  </a:lnTo>
                  <a:lnTo>
                    <a:pt x="0" y="4342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743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9395831"/>
              <a:ext cx="1750048" cy="4576859"/>
            </a:xfrm>
            <a:custGeom>
              <a:avLst/>
              <a:gdLst/>
              <a:ahLst/>
              <a:cxnLst/>
              <a:rect l="l" t="t" r="r" b="b"/>
              <a:pathLst>
                <a:path w="1750048" h="4576859">
                  <a:moveTo>
                    <a:pt x="0" y="0"/>
                  </a:moveTo>
                  <a:lnTo>
                    <a:pt x="1750048" y="0"/>
                  </a:lnTo>
                  <a:lnTo>
                    <a:pt x="1750048" y="4576858"/>
                  </a:lnTo>
                  <a:lnTo>
                    <a:pt x="0" y="4576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22633952" y="7273416"/>
              <a:ext cx="1750048" cy="5451418"/>
            </a:xfrm>
            <a:custGeom>
              <a:avLst/>
              <a:gdLst/>
              <a:ahLst/>
              <a:cxnLst/>
              <a:rect l="l" t="t" r="r" b="b"/>
              <a:pathLst>
                <a:path w="1750048" h="5451418">
                  <a:moveTo>
                    <a:pt x="0" y="0"/>
                  </a:moveTo>
                  <a:lnTo>
                    <a:pt x="1750048" y="0"/>
                  </a:lnTo>
                  <a:lnTo>
                    <a:pt x="1750048" y="5451417"/>
                  </a:lnTo>
                  <a:lnTo>
                    <a:pt x="0" y="545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22275922" y="9395831"/>
              <a:ext cx="1472957" cy="3162988"/>
            </a:xfrm>
            <a:custGeom>
              <a:avLst/>
              <a:gdLst/>
              <a:ahLst/>
              <a:cxnLst/>
              <a:rect l="l" t="t" r="r" b="b"/>
              <a:pathLst>
                <a:path w="1472957" h="3162988">
                  <a:moveTo>
                    <a:pt x="0" y="0"/>
                  </a:moveTo>
                  <a:lnTo>
                    <a:pt x="1472956" y="0"/>
                  </a:lnTo>
                  <a:lnTo>
                    <a:pt x="1472956" y="3162988"/>
                  </a:lnTo>
                  <a:lnTo>
                    <a:pt x="0" y="31629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0" y="-57150"/>
            <a:ext cx="8831116" cy="120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 b="1" spc="150">
                <a:solidFill>
                  <a:srgbClr val="172243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IDEA TITLE / PROPOSED SOLUTION</a:t>
            </a:r>
          </a:p>
        </p:txBody>
      </p:sp>
      <p:sp>
        <p:nvSpPr>
          <p:cNvPr id="11" name="Freeform 11"/>
          <p:cNvSpPr/>
          <p:nvPr/>
        </p:nvSpPr>
        <p:spPr>
          <a:xfrm>
            <a:off x="255295" y="1028700"/>
            <a:ext cx="5020450" cy="535667"/>
          </a:xfrm>
          <a:custGeom>
            <a:avLst/>
            <a:gdLst/>
            <a:ahLst/>
            <a:cxnLst/>
            <a:rect l="l" t="t" r="r" b="b"/>
            <a:pathLst>
              <a:path w="5020450" h="535667">
                <a:moveTo>
                  <a:pt x="0" y="0"/>
                </a:moveTo>
                <a:lnTo>
                  <a:pt x="5020450" y="0"/>
                </a:lnTo>
                <a:lnTo>
                  <a:pt x="5020450" y="535667"/>
                </a:lnTo>
                <a:lnTo>
                  <a:pt x="0" y="5356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250" r="-11250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3923818" y="2160727"/>
            <a:ext cx="4364182" cy="2153601"/>
          </a:xfrm>
          <a:custGeom>
            <a:avLst/>
            <a:gdLst/>
            <a:ahLst/>
            <a:cxnLst/>
            <a:rect l="l" t="t" r="r" b="b"/>
            <a:pathLst>
              <a:path w="4364182" h="2153601">
                <a:moveTo>
                  <a:pt x="0" y="0"/>
                </a:moveTo>
                <a:lnTo>
                  <a:pt x="4364182" y="0"/>
                </a:lnTo>
                <a:lnTo>
                  <a:pt x="436418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68000"/>
            </a:blip>
            <a:stretch>
              <a:fillRect/>
            </a:stretch>
          </a:blipFill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B4A817-BE08-41DA-A205-8E93475EEAD9}"/>
              </a:ext>
            </a:extLst>
          </p:cNvPr>
          <p:cNvSpPr txBox="1"/>
          <p:nvPr/>
        </p:nvSpPr>
        <p:spPr>
          <a:xfrm>
            <a:off x="296153" y="1286142"/>
            <a:ext cx="10479973" cy="8892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CodeQuest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AI — AI Coding Mentor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CodeQuest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AI 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is a proposed beginner-friendly coding platform that guides students toward understanding and fixing their own code.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How it works: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Select a coding challenge and write code.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Run the code and inspect errors and test results.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Receive progressive hints: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- Level 1: Conceptual Nudge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- Level 2: Focused Direction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  - Level 3: Specific Debugging Guidance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Fix the code independently and try again.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Track recurring mistakes and receive targeted practice recommendations as a planned feature.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Don’t just fix the bug. Learn how to think</a:t>
            </a:r>
            <a:endParaRPr lang="en-IN" sz="2400" b="1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FD885BD-DBF4-4A7A-8997-3F77045C029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4322" y="2344840"/>
            <a:ext cx="6973076" cy="34303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FEFDDB2-588D-4905-A757-989DCF743DAF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4322" y="5832354"/>
            <a:ext cx="7026176" cy="36305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5469" y="0"/>
            <a:ext cx="18288000" cy="10479517"/>
            <a:chOff x="0" y="0"/>
            <a:chExt cx="24384000" cy="139726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33397" cy="13147537"/>
            </a:xfrm>
            <a:custGeom>
              <a:avLst/>
              <a:gdLst/>
              <a:ahLst/>
              <a:cxnLst/>
              <a:rect l="l" t="t" r="r" b="b"/>
              <a:pathLst>
                <a:path w="2333397" h="13147537">
                  <a:moveTo>
                    <a:pt x="0" y="0"/>
                  </a:moveTo>
                  <a:lnTo>
                    <a:pt x="2333397" y="0"/>
                  </a:lnTo>
                  <a:lnTo>
                    <a:pt x="2333397" y="13147537"/>
                  </a:lnTo>
                  <a:lnTo>
                    <a:pt x="0" y="13147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9148440" y="8847622"/>
              <a:ext cx="2333397" cy="2303005"/>
            </a:xfrm>
            <a:custGeom>
              <a:avLst/>
              <a:gdLst/>
              <a:ahLst/>
              <a:cxnLst/>
              <a:rect l="l" t="t" r="r" b="b"/>
              <a:pathLst>
                <a:path w="2333397" h="2303005">
                  <a:moveTo>
                    <a:pt x="0" y="0"/>
                  </a:moveTo>
                  <a:lnTo>
                    <a:pt x="2333397" y="0"/>
                  </a:lnTo>
                  <a:lnTo>
                    <a:pt x="2333397" y="2303005"/>
                  </a:lnTo>
                  <a:lnTo>
                    <a:pt x="0" y="23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7412976" y="9395831"/>
              <a:ext cx="6971024" cy="4342033"/>
            </a:xfrm>
            <a:custGeom>
              <a:avLst/>
              <a:gdLst/>
              <a:ahLst/>
              <a:cxnLst/>
              <a:rect l="l" t="t" r="r" b="b"/>
              <a:pathLst>
                <a:path w="6971024" h="4342033">
                  <a:moveTo>
                    <a:pt x="0" y="0"/>
                  </a:moveTo>
                  <a:lnTo>
                    <a:pt x="6971024" y="0"/>
                  </a:lnTo>
                  <a:lnTo>
                    <a:pt x="6971024" y="4342033"/>
                  </a:lnTo>
                  <a:lnTo>
                    <a:pt x="0" y="4342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743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9395831"/>
              <a:ext cx="1750048" cy="4576859"/>
            </a:xfrm>
            <a:custGeom>
              <a:avLst/>
              <a:gdLst/>
              <a:ahLst/>
              <a:cxnLst/>
              <a:rect l="l" t="t" r="r" b="b"/>
              <a:pathLst>
                <a:path w="1750048" h="4576859">
                  <a:moveTo>
                    <a:pt x="0" y="0"/>
                  </a:moveTo>
                  <a:lnTo>
                    <a:pt x="1750048" y="0"/>
                  </a:lnTo>
                  <a:lnTo>
                    <a:pt x="1750048" y="4576858"/>
                  </a:lnTo>
                  <a:lnTo>
                    <a:pt x="0" y="4576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22633952" y="7273416"/>
              <a:ext cx="1750048" cy="5451418"/>
            </a:xfrm>
            <a:custGeom>
              <a:avLst/>
              <a:gdLst/>
              <a:ahLst/>
              <a:cxnLst/>
              <a:rect l="l" t="t" r="r" b="b"/>
              <a:pathLst>
                <a:path w="1750048" h="5451418">
                  <a:moveTo>
                    <a:pt x="0" y="0"/>
                  </a:moveTo>
                  <a:lnTo>
                    <a:pt x="1750048" y="0"/>
                  </a:lnTo>
                  <a:lnTo>
                    <a:pt x="1750048" y="5451417"/>
                  </a:lnTo>
                  <a:lnTo>
                    <a:pt x="0" y="545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22275922" y="9395831"/>
              <a:ext cx="1472957" cy="3162988"/>
            </a:xfrm>
            <a:custGeom>
              <a:avLst/>
              <a:gdLst/>
              <a:ahLst/>
              <a:cxnLst/>
              <a:rect l="l" t="t" r="r" b="b"/>
              <a:pathLst>
                <a:path w="1472957" h="3162988">
                  <a:moveTo>
                    <a:pt x="0" y="0"/>
                  </a:moveTo>
                  <a:lnTo>
                    <a:pt x="1472956" y="0"/>
                  </a:lnTo>
                  <a:lnTo>
                    <a:pt x="1472956" y="3162988"/>
                  </a:lnTo>
                  <a:lnTo>
                    <a:pt x="0" y="31629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0" y="-57150"/>
            <a:ext cx="5986011" cy="120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 b="1" spc="150">
                <a:solidFill>
                  <a:srgbClr val="172243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TECHNICAL APPROACH</a:t>
            </a:r>
          </a:p>
        </p:txBody>
      </p:sp>
      <p:sp>
        <p:nvSpPr>
          <p:cNvPr id="11" name="Freeform 11"/>
          <p:cNvSpPr/>
          <p:nvPr/>
        </p:nvSpPr>
        <p:spPr>
          <a:xfrm>
            <a:off x="257365" y="1028700"/>
            <a:ext cx="5020450" cy="535667"/>
          </a:xfrm>
          <a:custGeom>
            <a:avLst/>
            <a:gdLst/>
            <a:ahLst/>
            <a:cxnLst/>
            <a:rect l="l" t="t" r="r" b="b"/>
            <a:pathLst>
              <a:path w="5020450" h="535667">
                <a:moveTo>
                  <a:pt x="0" y="0"/>
                </a:moveTo>
                <a:lnTo>
                  <a:pt x="5020450" y="0"/>
                </a:lnTo>
                <a:lnTo>
                  <a:pt x="5020450" y="535667"/>
                </a:lnTo>
                <a:lnTo>
                  <a:pt x="0" y="5356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250" r="-11250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923818" y="2160727"/>
            <a:ext cx="4364182" cy="2153601"/>
          </a:xfrm>
          <a:custGeom>
            <a:avLst/>
            <a:gdLst/>
            <a:ahLst/>
            <a:cxnLst/>
            <a:rect l="l" t="t" r="r" b="b"/>
            <a:pathLst>
              <a:path w="4364182" h="2153601">
                <a:moveTo>
                  <a:pt x="0" y="0"/>
                </a:moveTo>
                <a:lnTo>
                  <a:pt x="4364182" y="0"/>
                </a:lnTo>
                <a:lnTo>
                  <a:pt x="436418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68000"/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4F1F1A-0E21-41AE-A313-F13DC965A32F}"/>
              </a:ext>
            </a:extLst>
          </p:cNvPr>
          <p:cNvSpPr txBox="1"/>
          <p:nvPr/>
        </p:nvSpPr>
        <p:spPr>
          <a:xfrm>
            <a:off x="257365" y="1621517"/>
            <a:ext cx="7134035" cy="76636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u="sng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Frontend/Application</a:t>
            </a:r>
            <a:endParaRPr lang="en-IN" sz="2400" u="sng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Next.js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Tailwind </a:t>
            </a:r>
            <a:r>
              <a:rPr lang="en-IN" sz="2400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css</a:t>
            </a:r>
            <a:endParaRPr lang="en-IN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IN" sz="2400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Pyodide</a:t>
            </a: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(code editor)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u="sng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Backend &amp; Deployment</a:t>
            </a:r>
          </a:p>
          <a:p>
            <a:pPr>
              <a:lnSpc>
                <a:spcPct val="150000"/>
              </a:lnSpc>
            </a:pPr>
            <a:r>
              <a:rPr lang="en-IN" sz="2400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Supabase</a:t>
            </a: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with PostgreSQL</a:t>
            </a:r>
          </a:p>
          <a:p>
            <a:pPr>
              <a:lnSpc>
                <a:spcPct val="150000"/>
              </a:lnSpc>
            </a:pPr>
            <a:r>
              <a:rPr lang="en-IN" sz="2400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Vercel</a:t>
            </a: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– Deployment (Frontend)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Render – Deployment (Backend)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Python </a:t>
            </a:r>
            <a:r>
              <a:rPr lang="en-IN" sz="2400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FastAPI</a:t>
            </a: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(Backend)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1" u="sng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AI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Gemini API (AI mentor)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Codex</a:t>
            </a:r>
            <a:b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</a:br>
            <a:r>
              <a:rPr lang="en-IN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Antigravity</a:t>
            </a:r>
          </a:p>
          <a:p>
            <a:endParaRPr lang="en-IN" sz="2400" dirty="0"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82062BC-45D1-4CBE-AA74-40FA7FA9B495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1"/>
          <a:stretch/>
        </p:blipFill>
        <p:spPr>
          <a:xfrm>
            <a:off x="6500148" y="2901784"/>
            <a:ext cx="10787747" cy="46502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750048" cy="9860652"/>
          </a:xfrm>
          <a:custGeom>
            <a:avLst/>
            <a:gdLst/>
            <a:ahLst/>
            <a:cxnLst/>
            <a:rect l="l" t="t" r="r" b="b"/>
            <a:pathLst>
              <a:path w="1750048" h="9860652">
                <a:moveTo>
                  <a:pt x="0" y="0"/>
                </a:moveTo>
                <a:lnTo>
                  <a:pt x="1750048" y="0"/>
                </a:lnTo>
                <a:lnTo>
                  <a:pt x="1750048" y="9860652"/>
                </a:lnTo>
                <a:lnTo>
                  <a:pt x="0" y="98606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7046873"/>
            <a:ext cx="1312536" cy="3432644"/>
          </a:xfrm>
          <a:custGeom>
            <a:avLst/>
            <a:gdLst/>
            <a:ahLst/>
            <a:cxnLst/>
            <a:rect l="l" t="t" r="r" b="b"/>
            <a:pathLst>
              <a:path w="1312536" h="3432644">
                <a:moveTo>
                  <a:pt x="0" y="0"/>
                </a:moveTo>
                <a:lnTo>
                  <a:pt x="1312536" y="0"/>
                </a:lnTo>
                <a:lnTo>
                  <a:pt x="1312536" y="3432644"/>
                </a:lnTo>
                <a:lnTo>
                  <a:pt x="0" y="34326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3059732" y="5455062"/>
            <a:ext cx="5228268" cy="4848336"/>
            <a:chOff x="0" y="0"/>
            <a:chExt cx="6971024" cy="6464448"/>
          </a:xfrm>
        </p:grpSpPr>
        <p:sp>
          <p:nvSpPr>
            <p:cNvPr id="6" name="Freeform 6"/>
            <p:cNvSpPr/>
            <p:nvPr/>
          </p:nvSpPr>
          <p:spPr>
            <a:xfrm>
              <a:off x="1735464" y="1574206"/>
              <a:ext cx="2333397" cy="2303005"/>
            </a:xfrm>
            <a:custGeom>
              <a:avLst/>
              <a:gdLst/>
              <a:ahLst/>
              <a:cxnLst/>
              <a:rect l="l" t="t" r="r" b="b"/>
              <a:pathLst>
                <a:path w="2333397" h="2303005">
                  <a:moveTo>
                    <a:pt x="0" y="0"/>
                  </a:moveTo>
                  <a:lnTo>
                    <a:pt x="2333397" y="0"/>
                  </a:lnTo>
                  <a:lnTo>
                    <a:pt x="2333397" y="2303005"/>
                  </a:lnTo>
                  <a:lnTo>
                    <a:pt x="0" y="23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2122415"/>
              <a:ext cx="6971024" cy="4342033"/>
            </a:xfrm>
            <a:custGeom>
              <a:avLst/>
              <a:gdLst/>
              <a:ahLst/>
              <a:cxnLst/>
              <a:rect l="l" t="t" r="r" b="b"/>
              <a:pathLst>
                <a:path w="6971024" h="4342033">
                  <a:moveTo>
                    <a:pt x="0" y="0"/>
                  </a:moveTo>
                  <a:lnTo>
                    <a:pt x="6971024" y="0"/>
                  </a:lnTo>
                  <a:lnTo>
                    <a:pt x="6971024" y="4342033"/>
                  </a:lnTo>
                  <a:lnTo>
                    <a:pt x="0" y="4342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5743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5220976" y="0"/>
              <a:ext cx="1750048" cy="5451418"/>
            </a:xfrm>
            <a:custGeom>
              <a:avLst/>
              <a:gdLst/>
              <a:ahLst/>
              <a:cxnLst/>
              <a:rect l="l" t="t" r="r" b="b"/>
              <a:pathLst>
                <a:path w="1750048" h="5451418">
                  <a:moveTo>
                    <a:pt x="0" y="0"/>
                  </a:moveTo>
                  <a:lnTo>
                    <a:pt x="1750048" y="0"/>
                  </a:lnTo>
                  <a:lnTo>
                    <a:pt x="1750048" y="5451418"/>
                  </a:lnTo>
                  <a:lnTo>
                    <a:pt x="0" y="5451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4862945" y="2122415"/>
              <a:ext cx="1472957" cy="3162988"/>
            </a:xfrm>
            <a:custGeom>
              <a:avLst/>
              <a:gdLst/>
              <a:ahLst/>
              <a:cxnLst/>
              <a:rect l="l" t="t" r="r" b="b"/>
              <a:pathLst>
                <a:path w="1472957" h="3162988">
                  <a:moveTo>
                    <a:pt x="0" y="0"/>
                  </a:moveTo>
                  <a:lnTo>
                    <a:pt x="1472957" y="0"/>
                  </a:lnTo>
                  <a:lnTo>
                    <a:pt x="1472957" y="3162989"/>
                  </a:lnTo>
                  <a:lnTo>
                    <a:pt x="0" y="31629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0" y="-57150"/>
            <a:ext cx="7321566" cy="120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 b="1" spc="150">
                <a:solidFill>
                  <a:srgbClr val="172243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FEASIBILITY AND VIABILITY</a:t>
            </a:r>
          </a:p>
        </p:txBody>
      </p:sp>
      <p:sp>
        <p:nvSpPr>
          <p:cNvPr id="11" name="Freeform 11"/>
          <p:cNvSpPr/>
          <p:nvPr/>
        </p:nvSpPr>
        <p:spPr>
          <a:xfrm>
            <a:off x="334880" y="1028700"/>
            <a:ext cx="5020450" cy="535667"/>
          </a:xfrm>
          <a:custGeom>
            <a:avLst/>
            <a:gdLst/>
            <a:ahLst/>
            <a:cxnLst/>
            <a:rect l="l" t="t" r="r" b="b"/>
            <a:pathLst>
              <a:path w="5020450" h="535667">
                <a:moveTo>
                  <a:pt x="0" y="0"/>
                </a:moveTo>
                <a:lnTo>
                  <a:pt x="5020450" y="0"/>
                </a:lnTo>
                <a:lnTo>
                  <a:pt x="5020450" y="535667"/>
                </a:lnTo>
                <a:lnTo>
                  <a:pt x="0" y="5356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250" r="-11250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923818" y="2160727"/>
            <a:ext cx="4364182" cy="2153601"/>
          </a:xfrm>
          <a:custGeom>
            <a:avLst/>
            <a:gdLst/>
            <a:ahLst/>
            <a:cxnLst/>
            <a:rect l="l" t="t" r="r" b="b"/>
            <a:pathLst>
              <a:path w="4364182" h="2153601">
                <a:moveTo>
                  <a:pt x="0" y="0"/>
                </a:moveTo>
                <a:lnTo>
                  <a:pt x="4364182" y="0"/>
                </a:lnTo>
                <a:lnTo>
                  <a:pt x="436418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68000"/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9B856-EDED-48C1-89DA-E9FF3343DED9}"/>
              </a:ext>
            </a:extLst>
          </p:cNvPr>
          <p:cNvSpPr txBox="1"/>
          <p:nvPr/>
        </p:nvSpPr>
        <p:spPr>
          <a:xfrm>
            <a:off x="487644" y="1602467"/>
            <a:ext cx="10942356" cy="8338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Practical to build. Flexible to scale.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Technical Feasibility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Built using established web technologies and modular components.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AI and code execution services can be integrated independently.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Implementation Feasibility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Begin with a focused set of programming challenges.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Prioritize the complete cycle of coding, testing, and receiving feedback.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Safety &amp; Reliability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Isolated code execution with time and resource limits.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Server-side API key management and controlled service access.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Economic Viability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Start with a limited challenge set and cost-conscious AI usage.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Expand capabilities as usage and resources grow.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Potential Users: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Students, coding clubs, educators and self-paced learners.</a:t>
            </a:r>
          </a:p>
          <a:p>
            <a:pPr>
              <a:lnSpc>
                <a:spcPct val="150000"/>
              </a:lnSpc>
            </a:pPr>
            <a:endParaRPr lang="en-IN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9EB4804-B29E-480C-A6DF-62EF316613AC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78"/>
          <a:stretch/>
        </p:blipFill>
        <p:spPr>
          <a:xfrm>
            <a:off x="9929625" y="1845135"/>
            <a:ext cx="7988385" cy="71627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479517"/>
            <a:chOff x="0" y="0"/>
            <a:chExt cx="24384000" cy="139726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33397" cy="13147537"/>
            </a:xfrm>
            <a:custGeom>
              <a:avLst/>
              <a:gdLst/>
              <a:ahLst/>
              <a:cxnLst/>
              <a:rect l="l" t="t" r="r" b="b"/>
              <a:pathLst>
                <a:path w="2333397" h="13147537">
                  <a:moveTo>
                    <a:pt x="0" y="0"/>
                  </a:moveTo>
                  <a:lnTo>
                    <a:pt x="2333397" y="0"/>
                  </a:lnTo>
                  <a:lnTo>
                    <a:pt x="2333397" y="13147537"/>
                  </a:lnTo>
                  <a:lnTo>
                    <a:pt x="0" y="13147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9148440" y="8847622"/>
              <a:ext cx="2333397" cy="2303005"/>
            </a:xfrm>
            <a:custGeom>
              <a:avLst/>
              <a:gdLst/>
              <a:ahLst/>
              <a:cxnLst/>
              <a:rect l="l" t="t" r="r" b="b"/>
              <a:pathLst>
                <a:path w="2333397" h="2303005">
                  <a:moveTo>
                    <a:pt x="0" y="0"/>
                  </a:moveTo>
                  <a:lnTo>
                    <a:pt x="2333397" y="0"/>
                  </a:lnTo>
                  <a:lnTo>
                    <a:pt x="2333397" y="2303005"/>
                  </a:lnTo>
                  <a:lnTo>
                    <a:pt x="0" y="23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7412976" y="9395831"/>
              <a:ext cx="6971024" cy="4342033"/>
            </a:xfrm>
            <a:custGeom>
              <a:avLst/>
              <a:gdLst/>
              <a:ahLst/>
              <a:cxnLst/>
              <a:rect l="l" t="t" r="r" b="b"/>
              <a:pathLst>
                <a:path w="6971024" h="4342033">
                  <a:moveTo>
                    <a:pt x="0" y="0"/>
                  </a:moveTo>
                  <a:lnTo>
                    <a:pt x="6971024" y="0"/>
                  </a:lnTo>
                  <a:lnTo>
                    <a:pt x="6971024" y="4342033"/>
                  </a:lnTo>
                  <a:lnTo>
                    <a:pt x="0" y="4342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743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9395831"/>
              <a:ext cx="1750048" cy="4576859"/>
            </a:xfrm>
            <a:custGeom>
              <a:avLst/>
              <a:gdLst/>
              <a:ahLst/>
              <a:cxnLst/>
              <a:rect l="l" t="t" r="r" b="b"/>
              <a:pathLst>
                <a:path w="1750048" h="4576859">
                  <a:moveTo>
                    <a:pt x="0" y="0"/>
                  </a:moveTo>
                  <a:lnTo>
                    <a:pt x="1750048" y="0"/>
                  </a:lnTo>
                  <a:lnTo>
                    <a:pt x="1750048" y="4576858"/>
                  </a:lnTo>
                  <a:lnTo>
                    <a:pt x="0" y="4576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22633952" y="7273416"/>
              <a:ext cx="1750048" cy="5451418"/>
            </a:xfrm>
            <a:custGeom>
              <a:avLst/>
              <a:gdLst/>
              <a:ahLst/>
              <a:cxnLst/>
              <a:rect l="l" t="t" r="r" b="b"/>
              <a:pathLst>
                <a:path w="1750048" h="5451418">
                  <a:moveTo>
                    <a:pt x="0" y="0"/>
                  </a:moveTo>
                  <a:lnTo>
                    <a:pt x="1750048" y="0"/>
                  </a:lnTo>
                  <a:lnTo>
                    <a:pt x="1750048" y="5451417"/>
                  </a:lnTo>
                  <a:lnTo>
                    <a:pt x="0" y="545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22275922" y="9395831"/>
              <a:ext cx="1472957" cy="3162988"/>
            </a:xfrm>
            <a:custGeom>
              <a:avLst/>
              <a:gdLst/>
              <a:ahLst/>
              <a:cxnLst/>
              <a:rect l="l" t="t" r="r" b="b"/>
              <a:pathLst>
                <a:path w="1472957" h="3162988">
                  <a:moveTo>
                    <a:pt x="0" y="0"/>
                  </a:moveTo>
                  <a:lnTo>
                    <a:pt x="1472956" y="0"/>
                  </a:lnTo>
                  <a:lnTo>
                    <a:pt x="1472956" y="3162988"/>
                  </a:lnTo>
                  <a:lnTo>
                    <a:pt x="0" y="31629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-529376" y="-57150"/>
            <a:ext cx="7321566" cy="120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 b="1" spc="150">
                <a:solidFill>
                  <a:srgbClr val="172243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IMPACT AND BENEFITS</a:t>
            </a:r>
          </a:p>
        </p:txBody>
      </p:sp>
      <p:sp>
        <p:nvSpPr>
          <p:cNvPr id="11" name="Freeform 11"/>
          <p:cNvSpPr/>
          <p:nvPr/>
        </p:nvSpPr>
        <p:spPr>
          <a:xfrm>
            <a:off x="355509" y="1028700"/>
            <a:ext cx="5020450" cy="535667"/>
          </a:xfrm>
          <a:custGeom>
            <a:avLst/>
            <a:gdLst/>
            <a:ahLst/>
            <a:cxnLst/>
            <a:rect l="l" t="t" r="r" b="b"/>
            <a:pathLst>
              <a:path w="5020450" h="535667">
                <a:moveTo>
                  <a:pt x="0" y="0"/>
                </a:moveTo>
                <a:lnTo>
                  <a:pt x="5020449" y="0"/>
                </a:lnTo>
                <a:lnTo>
                  <a:pt x="5020449" y="535667"/>
                </a:lnTo>
                <a:lnTo>
                  <a:pt x="0" y="5356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250" r="-11250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923818" y="2160727"/>
            <a:ext cx="4364182" cy="2153601"/>
          </a:xfrm>
          <a:custGeom>
            <a:avLst/>
            <a:gdLst/>
            <a:ahLst/>
            <a:cxnLst/>
            <a:rect l="l" t="t" r="r" b="b"/>
            <a:pathLst>
              <a:path w="4364182" h="2153601">
                <a:moveTo>
                  <a:pt x="0" y="0"/>
                </a:moveTo>
                <a:lnTo>
                  <a:pt x="4364182" y="0"/>
                </a:lnTo>
                <a:lnTo>
                  <a:pt x="436418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68000"/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E170C-B5E0-4D55-9174-38AEC0D49524}"/>
              </a:ext>
            </a:extLst>
          </p:cNvPr>
          <p:cNvSpPr txBox="1"/>
          <p:nvPr/>
        </p:nvSpPr>
        <p:spPr>
          <a:xfrm>
            <a:off x="293453" y="1296533"/>
            <a:ext cx="9536347" cy="8892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From debugging frustration to independent problem-solving.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For Students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Understand errors instead of blindly fixing them.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Build confidence through guided practice.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Strengthen programming fundamentals.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For Educators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Support self-paced learning.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Identify recurring mistakes and areas requiring attention, where progress tracking is available.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For Learning Outcomes</a:t>
            </a: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Encourage logical thinking and independent debugging.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Make coding practice more engaging through challenges and milestones.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Long-Term Vision: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Make personalized programming guidance more accessible to every learner.</a:t>
            </a:r>
          </a:p>
          <a:p>
            <a:pPr>
              <a:lnSpc>
                <a:spcPct val="150000"/>
              </a:lnSpc>
            </a:pPr>
            <a:endParaRPr lang="en-IN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3852C0F-1EE8-4842-9CCB-D623E9A1A1FC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4"/>
          <a:stretch/>
        </p:blipFill>
        <p:spPr>
          <a:xfrm>
            <a:off x="9828463" y="2032104"/>
            <a:ext cx="7245685" cy="60941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479517"/>
            <a:chOff x="0" y="0"/>
            <a:chExt cx="24384000" cy="1397268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33397" cy="13147537"/>
            </a:xfrm>
            <a:custGeom>
              <a:avLst/>
              <a:gdLst/>
              <a:ahLst/>
              <a:cxnLst/>
              <a:rect l="l" t="t" r="r" b="b"/>
              <a:pathLst>
                <a:path w="2333397" h="13147537">
                  <a:moveTo>
                    <a:pt x="0" y="0"/>
                  </a:moveTo>
                  <a:lnTo>
                    <a:pt x="2333397" y="0"/>
                  </a:lnTo>
                  <a:lnTo>
                    <a:pt x="2333397" y="13147537"/>
                  </a:lnTo>
                  <a:lnTo>
                    <a:pt x="0" y="13147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19148440" y="8847622"/>
              <a:ext cx="2333397" cy="2303005"/>
            </a:xfrm>
            <a:custGeom>
              <a:avLst/>
              <a:gdLst/>
              <a:ahLst/>
              <a:cxnLst/>
              <a:rect l="l" t="t" r="r" b="b"/>
              <a:pathLst>
                <a:path w="2333397" h="2303005">
                  <a:moveTo>
                    <a:pt x="0" y="0"/>
                  </a:moveTo>
                  <a:lnTo>
                    <a:pt x="2333397" y="0"/>
                  </a:lnTo>
                  <a:lnTo>
                    <a:pt x="2333397" y="2303005"/>
                  </a:lnTo>
                  <a:lnTo>
                    <a:pt x="0" y="23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17412976" y="9395831"/>
              <a:ext cx="6971024" cy="4342033"/>
            </a:xfrm>
            <a:custGeom>
              <a:avLst/>
              <a:gdLst/>
              <a:ahLst/>
              <a:cxnLst/>
              <a:rect l="l" t="t" r="r" b="b"/>
              <a:pathLst>
                <a:path w="6971024" h="4342033">
                  <a:moveTo>
                    <a:pt x="0" y="0"/>
                  </a:moveTo>
                  <a:lnTo>
                    <a:pt x="6971024" y="0"/>
                  </a:lnTo>
                  <a:lnTo>
                    <a:pt x="6971024" y="4342033"/>
                  </a:lnTo>
                  <a:lnTo>
                    <a:pt x="0" y="4342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743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9395831"/>
              <a:ext cx="1750048" cy="4576859"/>
            </a:xfrm>
            <a:custGeom>
              <a:avLst/>
              <a:gdLst/>
              <a:ahLst/>
              <a:cxnLst/>
              <a:rect l="l" t="t" r="r" b="b"/>
              <a:pathLst>
                <a:path w="1750048" h="4576859">
                  <a:moveTo>
                    <a:pt x="0" y="0"/>
                  </a:moveTo>
                  <a:lnTo>
                    <a:pt x="1750048" y="0"/>
                  </a:lnTo>
                  <a:lnTo>
                    <a:pt x="1750048" y="4576858"/>
                  </a:lnTo>
                  <a:lnTo>
                    <a:pt x="0" y="4576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22633952" y="7273416"/>
              <a:ext cx="1750048" cy="5451418"/>
            </a:xfrm>
            <a:custGeom>
              <a:avLst/>
              <a:gdLst/>
              <a:ahLst/>
              <a:cxnLst/>
              <a:rect l="l" t="t" r="r" b="b"/>
              <a:pathLst>
                <a:path w="1750048" h="5451418">
                  <a:moveTo>
                    <a:pt x="0" y="0"/>
                  </a:moveTo>
                  <a:lnTo>
                    <a:pt x="1750048" y="0"/>
                  </a:lnTo>
                  <a:lnTo>
                    <a:pt x="1750048" y="5451417"/>
                  </a:lnTo>
                  <a:lnTo>
                    <a:pt x="0" y="5451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22275922" y="9395831"/>
              <a:ext cx="1472957" cy="3162988"/>
            </a:xfrm>
            <a:custGeom>
              <a:avLst/>
              <a:gdLst/>
              <a:ahLst/>
              <a:cxnLst/>
              <a:rect l="l" t="t" r="r" b="b"/>
              <a:pathLst>
                <a:path w="1472957" h="3162988">
                  <a:moveTo>
                    <a:pt x="0" y="0"/>
                  </a:moveTo>
                  <a:lnTo>
                    <a:pt x="1472956" y="0"/>
                  </a:lnTo>
                  <a:lnTo>
                    <a:pt x="1472956" y="3162988"/>
                  </a:lnTo>
                  <a:lnTo>
                    <a:pt x="0" y="31629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-1221244" y="-57150"/>
            <a:ext cx="7321566" cy="1200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0"/>
              </a:lnSpc>
            </a:pPr>
            <a:r>
              <a:rPr lang="en-US" sz="7500" b="1" spc="150" dirty="0">
                <a:solidFill>
                  <a:srgbClr val="172243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DIFFERENTIATOR</a:t>
            </a:r>
          </a:p>
        </p:txBody>
      </p:sp>
      <p:sp>
        <p:nvSpPr>
          <p:cNvPr id="11" name="Freeform 11"/>
          <p:cNvSpPr/>
          <p:nvPr/>
        </p:nvSpPr>
        <p:spPr>
          <a:xfrm>
            <a:off x="355509" y="1028700"/>
            <a:ext cx="5020450" cy="535667"/>
          </a:xfrm>
          <a:custGeom>
            <a:avLst/>
            <a:gdLst/>
            <a:ahLst/>
            <a:cxnLst/>
            <a:rect l="l" t="t" r="r" b="b"/>
            <a:pathLst>
              <a:path w="5020450" h="535667">
                <a:moveTo>
                  <a:pt x="0" y="0"/>
                </a:moveTo>
                <a:lnTo>
                  <a:pt x="5020449" y="0"/>
                </a:lnTo>
                <a:lnTo>
                  <a:pt x="5020449" y="535667"/>
                </a:lnTo>
                <a:lnTo>
                  <a:pt x="0" y="5356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250" r="-11250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3923818" y="2160727"/>
            <a:ext cx="4364182" cy="2153601"/>
          </a:xfrm>
          <a:custGeom>
            <a:avLst/>
            <a:gdLst/>
            <a:ahLst/>
            <a:cxnLst/>
            <a:rect l="l" t="t" r="r" b="b"/>
            <a:pathLst>
              <a:path w="4364182" h="2153601">
                <a:moveTo>
                  <a:pt x="0" y="0"/>
                </a:moveTo>
                <a:lnTo>
                  <a:pt x="4364182" y="0"/>
                </a:lnTo>
                <a:lnTo>
                  <a:pt x="4364182" y="2153601"/>
                </a:lnTo>
                <a:lnTo>
                  <a:pt x="0" y="2153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68000"/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1428DE-9BFC-4A4B-93E0-137379B12683}"/>
              </a:ext>
            </a:extLst>
          </p:cNvPr>
          <p:cNvSpPr txBox="1"/>
          <p:nvPr/>
        </p:nvSpPr>
        <p:spPr>
          <a:xfrm>
            <a:off x="273911" y="1769492"/>
            <a:ext cx="8610600" cy="72305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What Makes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CodeQuest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AI Different?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Learning over copying 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: Encourages learners to understand the reasoning behind a solution.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Progress through practice 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: Turns mistakes into opportunities to retry, reflect, and improve.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A path toward independence 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: Aims to help students solve future problems with greater confidence.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Our Differentiator:</a:t>
            </a:r>
            <a:r>
              <a:rPr lang="en-US" sz="2400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A challenge-driven coding experience that prioritizes understanding, independent debugging, and continuous improvement.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Help learners discover the answer — not simply receive it.</a:t>
            </a:r>
            <a:endParaRPr lang="en-IN" sz="2400" b="1" dirty="0">
              <a:solidFill>
                <a:schemeClr val="accent4">
                  <a:lumMod val="75000"/>
                </a:schemeClr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03F5274-91FD-49B2-AB3F-64AA0BBFC2A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40"/>
          <a:stretch/>
        </p:blipFill>
        <p:spPr>
          <a:xfrm>
            <a:off x="8402597" y="2548132"/>
            <a:ext cx="9937067" cy="69846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4711687"/>
            <a:ext cx="6540804" cy="5148966"/>
          </a:xfrm>
          <a:custGeom>
            <a:avLst/>
            <a:gdLst/>
            <a:ahLst/>
            <a:cxnLst/>
            <a:rect l="l" t="t" r="r" b="b"/>
            <a:pathLst>
              <a:path w="6540804" h="5148966">
                <a:moveTo>
                  <a:pt x="0" y="0"/>
                </a:moveTo>
                <a:lnTo>
                  <a:pt x="6540804" y="0"/>
                </a:lnTo>
                <a:lnTo>
                  <a:pt x="6540804" y="5148965"/>
                </a:lnTo>
                <a:lnTo>
                  <a:pt x="0" y="5148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175196" y="6854356"/>
            <a:ext cx="4364182" cy="3006296"/>
          </a:xfrm>
          <a:custGeom>
            <a:avLst/>
            <a:gdLst/>
            <a:ahLst/>
            <a:cxnLst/>
            <a:rect l="l" t="t" r="r" b="b"/>
            <a:pathLst>
              <a:path w="4364182" h="3006296">
                <a:moveTo>
                  <a:pt x="0" y="0"/>
                </a:moveTo>
                <a:lnTo>
                  <a:pt x="4364182" y="0"/>
                </a:lnTo>
                <a:lnTo>
                  <a:pt x="4364182" y="3006296"/>
                </a:lnTo>
                <a:lnTo>
                  <a:pt x="0" y="30062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789330" y="7499343"/>
            <a:ext cx="8498670" cy="2361309"/>
          </a:xfrm>
          <a:custGeom>
            <a:avLst/>
            <a:gdLst/>
            <a:ahLst/>
            <a:cxnLst/>
            <a:rect l="l" t="t" r="r" b="b"/>
            <a:pathLst>
              <a:path w="8498670" h="2361309">
                <a:moveTo>
                  <a:pt x="0" y="0"/>
                </a:moveTo>
                <a:lnTo>
                  <a:pt x="8498670" y="0"/>
                </a:lnTo>
                <a:lnTo>
                  <a:pt x="8498670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7280704"/>
            <a:ext cx="16986402" cy="2798589"/>
          </a:xfrm>
          <a:custGeom>
            <a:avLst/>
            <a:gdLst/>
            <a:ahLst/>
            <a:cxnLst/>
            <a:rect l="l" t="t" r="r" b="b"/>
            <a:pathLst>
              <a:path w="16986402" h="2798589">
                <a:moveTo>
                  <a:pt x="0" y="0"/>
                </a:moveTo>
                <a:lnTo>
                  <a:pt x="16986402" y="0"/>
                </a:lnTo>
                <a:lnTo>
                  <a:pt x="16986402" y="2798588"/>
                </a:lnTo>
                <a:lnTo>
                  <a:pt x="0" y="27985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01598" y="6635716"/>
            <a:ext cx="1312536" cy="3443576"/>
          </a:xfrm>
          <a:custGeom>
            <a:avLst/>
            <a:gdLst/>
            <a:ahLst/>
            <a:cxnLst/>
            <a:rect l="l" t="t" r="r" b="b"/>
            <a:pathLst>
              <a:path w="1312536" h="3443576">
                <a:moveTo>
                  <a:pt x="0" y="0"/>
                </a:moveTo>
                <a:lnTo>
                  <a:pt x="1312536" y="0"/>
                </a:lnTo>
                <a:lnTo>
                  <a:pt x="1312536" y="3443576"/>
                </a:lnTo>
                <a:lnTo>
                  <a:pt x="0" y="34435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176622" y="5990729"/>
            <a:ext cx="1531292" cy="4088563"/>
          </a:xfrm>
          <a:custGeom>
            <a:avLst/>
            <a:gdLst/>
            <a:ahLst/>
            <a:cxnLst/>
            <a:rect l="l" t="t" r="r" b="b"/>
            <a:pathLst>
              <a:path w="1531292" h="4088563">
                <a:moveTo>
                  <a:pt x="0" y="0"/>
                </a:moveTo>
                <a:lnTo>
                  <a:pt x="1531292" y="0"/>
                </a:lnTo>
                <a:lnTo>
                  <a:pt x="1531292" y="4088563"/>
                </a:lnTo>
                <a:lnTo>
                  <a:pt x="0" y="40885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2840976" y="6635716"/>
            <a:ext cx="1312536" cy="3443576"/>
          </a:xfrm>
          <a:custGeom>
            <a:avLst/>
            <a:gdLst/>
            <a:ahLst/>
            <a:cxnLst/>
            <a:rect l="l" t="t" r="r" b="b"/>
            <a:pathLst>
              <a:path w="1312536" h="3443576">
                <a:moveTo>
                  <a:pt x="0" y="0"/>
                </a:moveTo>
                <a:lnTo>
                  <a:pt x="1312536" y="0"/>
                </a:lnTo>
                <a:lnTo>
                  <a:pt x="1312536" y="3443576"/>
                </a:lnTo>
                <a:lnTo>
                  <a:pt x="0" y="344357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923818" y="7280704"/>
            <a:ext cx="1104718" cy="2579949"/>
          </a:xfrm>
          <a:custGeom>
            <a:avLst/>
            <a:gdLst/>
            <a:ahLst/>
            <a:cxnLst/>
            <a:rect l="l" t="t" r="r" b="b"/>
            <a:pathLst>
              <a:path w="1104718" h="2579949">
                <a:moveTo>
                  <a:pt x="0" y="0"/>
                </a:moveTo>
                <a:lnTo>
                  <a:pt x="1104718" y="0"/>
                </a:lnTo>
                <a:lnTo>
                  <a:pt x="1104718" y="2579948"/>
                </a:lnTo>
                <a:lnTo>
                  <a:pt x="0" y="25799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0" y="9423373"/>
            <a:ext cx="18288000" cy="863627"/>
          </a:xfrm>
          <a:custGeom>
            <a:avLst/>
            <a:gdLst/>
            <a:ahLst/>
            <a:cxnLst/>
            <a:rect l="l" t="t" r="r" b="b"/>
            <a:pathLst>
              <a:path w="18288000" h="863627">
                <a:moveTo>
                  <a:pt x="0" y="0"/>
                </a:moveTo>
                <a:lnTo>
                  <a:pt x="18288000" y="0"/>
                </a:lnTo>
                <a:lnTo>
                  <a:pt x="1828800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663020" y="3238633"/>
            <a:ext cx="6961960" cy="2220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29"/>
              </a:lnSpc>
            </a:pPr>
            <a:r>
              <a:rPr lang="en-US" sz="14129" b="1" spc="282">
                <a:solidFill>
                  <a:srgbClr val="141D40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THANK YOU!</a:t>
            </a:r>
          </a:p>
        </p:txBody>
      </p:sp>
      <p:sp>
        <p:nvSpPr>
          <p:cNvPr id="13" name="Freeform 13"/>
          <p:cNvSpPr/>
          <p:nvPr/>
        </p:nvSpPr>
        <p:spPr>
          <a:xfrm>
            <a:off x="3259464" y="5459607"/>
            <a:ext cx="11769072" cy="218640"/>
          </a:xfrm>
          <a:custGeom>
            <a:avLst/>
            <a:gdLst/>
            <a:ahLst/>
            <a:cxnLst/>
            <a:rect l="l" t="t" r="r" b="b"/>
            <a:pathLst>
              <a:path w="11769072" h="218640">
                <a:moveTo>
                  <a:pt x="0" y="0"/>
                </a:moveTo>
                <a:lnTo>
                  <a:pt x="11769072" y="0"/>
                </a:lnTo>
                <a:lnTo>
                  <a:pt x="1176907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7517132" y="5877000"/>
            <a:ext cx="3296956" cy="874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54"/>
              </a:lnSpc>
            </a:pPr>
            <a:r>
              <a:rPr lang="en-US" sz="5554" b="1" spc="276">
                <a:solidFill>
                  <a:srgbClr val="323F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VORTEXA 3.0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581401" y="7052188"/>
            <a:ext cx="1168417" cy="865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54"/>
              </a:lnSpc>
            </a:pPr>
            <a:r>
              <a:rPr lang="en-US" sz="5554" b="1" spc="276">
                <a:solidFill>
                  <a:srgbClr val="ED8076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AIRS</a:t>
            </a:r>
          </a:p>
        </p:txBody>
      </p:sp>
      <p:sp>
        <p:nvSpPr>
          <p:cNvPr id="16" name="TextBox 16"/>
          <p:cNvSpPr txBox="1"/>
          <p:nvPr/>
        </p:nvSpPr>
        <p:spPr>
          <a:xfrm rot="-769921">
            <a:off x="15555796" y="4644632"/>
            <a:ext cx="1911526" cy="1704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55"/>
              </a:lnSpc>
            </a:pPr>
            <a:r>
              <a:rPr lang="en-US" sz="5211">
                <a:solidFill>
                  <a:srgbClr val="ED8076"/>
                </a:solidFill>
                <a:latin typeface="Heading Now 31-38"/>
                <a:ea typeface="Heading Now 31-38"/>
                <a:cs typeface="Heading Now 31-38"/>
                <a:sym typeface="Heading Now 31-38"/>
              </a:rPr>
              <a:t>Game’s</a:t>
            </a:r>
          </a:p>
          <a:p>
            <a:pPr algn="ctr">
              <a:lnSpc>
                <a:spcPts val="6255"/>
              </a:lnSpc>
            </a:pPr>
            <a:r>
              <a:rPr lang="en-US" sz="5211">
                <a:solidFill>
                  <a:srgbClr val="ED8076"/>
                </a:solidFill>
                <a:latin typeface="Heading Now 31-38"/>
                <a:ea typeface="Heading Now 31-38"/>
                <a:cs typeface="Heading Now 31-38"/>
                <a:sym typeface="Heading Now 31-38"/>
              </a:rPr>
              <a:t>Still On</a:t>
            </a:r>
          </a:p>
        </p:txBody>
      </p:sp>
      <p:sp>
        <p:nvSpPr>
          <p:cNvPr id="17" name="Freeform 17"/>
          <p:cNvSpPr/>
          <p:nvPr/>
        </p:nvSpPr>
        <p:spPr>
          <a:xfrm>
            <a:off x="15892622" y="5998497"/>
            <a:ext cx="2187560" cy="1082267"/>
          </a:xfrm>
          <a:custGeom>
            <a:avLst/>
            <a:gdLst/>
            <a:ahLst/>
            <a:cxnLst/>
            <a:rect l="l" t="t" r="r" b="b"/>
            <a:pathLst>
              <a:path w="2187560" h="1082267">
                <a:moveTo>
                  <a:pt x="0" y="0"/>
                </a:moveTo>
                <a:lnTo>
                  <a:pt x="2187560" y="0"/>
                </a:lnTo>
                <a:lnTo>
                  <a:pt x="218756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6178937" y="216170"/>
            <a:ext cx="2160727" cy="2160727"/>
          </a:xfrm>
          <a:custGeom>
            <a:avLst/>
            <a:gdLst/>
            <a:ahLst/>
            <a:cxnLst/>
            <a:rect l="l" t="t" r="r" b="b"/>
            <a:pathLst>
              <a:path w="2160727" h="2160727">
                <a:moveTo>
                  <a:pt x="0" y="0"/>
                </a:moveTo>
                <a:lnTo>
                  <a:pt x="2160726" y="0"/>
                </a:lnTo>
                <a:lnTo>
                  <a:pt x="2160726" y="2160727"/>
                </a:lnTo>
                <a:lnTo>
                  <a:pt x="0" y="216072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573</Words>
  <Application>Microsoft Office PowerPoint</Application>
  <PresentationFormat>Custom</PresentationFormat>
  <Paragraphs>86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Heading Now 31-38 Bold</vt:lpstr>
      <vt:lpstr>Arial</vt:lpstr>
      <vt:lpstr>Arial Unicode MS</vt:lpstr>
      <vt:lpstr>Heading Now 31-38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VORTEXA 3.0 Hackathon</dc:title>
  <dc:creator>A1</dc:creator>
  <cp:lastModifiedBy>A1</cp:lastModifiedBy>
  <cp:revision>13</cp:revision>
  <dcterms:created xsi:type="dcterms:W3CDTF">2006-08-16T00:00:00Z</dcterms:created>
  <dcterms:modified xsi:type="dcterms:W3CDTF">2026-10-11T14:31:34Z</dcterms:modified>
  <dc:identifier>DAHXr7I3BNw</dc:identifier>
</cp:coreProperties>
</file>